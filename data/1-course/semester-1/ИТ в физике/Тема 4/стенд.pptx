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1pPr>
    <a:lvl2pPr marL="1108116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2pPr>
    <a:lvl3pPr marL="2216231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3pPr>
    <a:lvl4pPr marL="3324347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4pPr>
    <a:lvl5pPr marL="4432463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5pPr>
    <a:lvl6pPr marL="5540578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6pPr>
    <a:lvl7pPr marL="6648694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7pPr>
    <a:lvl8pPr marL="7756809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8pPr>
    <a:lvl9pPr marL="8864925" algn="l" defTabSz="1108116" rtl="0" eaLnBrk="1" latinLnBrk="0" hangingPunct="1">
      <a:defRPr sz="436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637" y="-12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6667E-2E91-43FC-9495-CD154B32482F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35BE6-C137-459B-BC65-4B84648D8C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109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1pPr>
    <a:lvl2pPr marL="1108116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2pPr>
    <a:lvl3pPr marL="2216231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3pPr>
    <a:lvl4pPr marL="3324347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4pPr>
    <a:lvl5pPr marL="4432463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5pPr>
    <a:lvl6pPr marL="5540578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6pPr>
    <a:lvl7pPr marL="6648694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7pPr>
    <a:lvl8pPr marL="7756809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8pPr>
    <a:lvl9pPr marL="8864925" algn="l" defTabSz="2216231" rtl="0" eaLnBrk="1" latinLnBrk="0" hangingPunct="1">
      <a:defRPr sz="29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35BE6-C137-459B-BC65-4B84648D8C8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2939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3" y="4954765"/>
            <a:ext cx="18176082" cy="10540260"/>
          </a:xfrm>
        </p:spPr>
        <p:txBody>
          <a:bodyPr anchor="b"/>
          <a:lstStyle>
            <a:lvl1pPr algn="ctr">
              <a:defRPr sz="599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5" y="15901499"/>
            <a:ext cx="16037718" cy="7309500"/>
          </a:xfrm>
        </p:spPr>
        <p:txBody>
          <a:bodyPr/>
          <a:lstStyle>
            <a:lvl1pPr marL="0" indent="0" algn="ctr">
              <a:buNone/>
              <a:defRPr sz="2398"/>
            </a:lvl1pPr>
            <a:lvl2pPr marL="456743" indent="0" algn="ctr">
              <a:buNone/>
              <a:defRPr sz="1998"/>
            </a:lvl2pPr>
            <a:lvl3pPr marL="913486" indent="0" algn="ctr">
              <a:buNone/>
              <a:defRPr sz="1798"/>
            </a:lvl3pPr>
            <a:lvl4pPr marL="1370228" indent="0" algn="ctr">
              <a:buNone/>
              <a:defRPr sz="1598"/>
            </a:lvl4pPr>
            <a:lvl5pPr marL="1826971" indent="0" algn="ctr">
              <a:buNone/>
              <a:defRPr sz="1598"/>
            </a:lvl5pPr>
            <a:lvl6pPr marL="2283714" indent="0" algn="ctr">
              <a:buNone/>
              <a:defRPr sz="1598"/>
            </a:lvl6pPr>
            <a:lvl7pPr marL="2740457" indent="0" algn="ctr">
              <a:buNone/>
              <a:defRPr sz="1598"/>
            </a:lvl7pPr>
            <a:lvl8pPr marL="3197200" indent="0" algn="ctr">
              <a:buNone/>
              <a:defRPr sz="1598"/>
            </a:lvl8pPr>
            <a:lvl9pPr marL="3653942" indent="0" algn="ctr">
              <a:buNone/>
              <a:defRPr sz="1598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348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486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9" y="7547789"/>
            <a:ext cx="18443377" cy="12593646"/>
          </a:xfrm>
        </p:spPr>
        <p:txBody>
          <a:bodyPr anchor="b"/>
          <a:lstStyle>
            <a:lvl1pPr>
              <a:defRPr sz="599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9" y="20260575"/>
            <a:ext cx="18443377" cy="6622701"/>
          </a:xfrm>
        </p:spPr>
        <p:txBody>
          <a:bodyPr/>
          <a:lstStyle>
            <a:lvl1pPr marL="0" indent="0">
              <a:buNone/>
              <a:defRPr sz="2398">
                <a:solidFill>
                  <a:schemeClr val="tx1"/>
                </a:solidFill>
              </a:defRPr>
            </a:lvl1pPr>
            <a:lvl2pPr marL="456743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2pPr>
            <a:lvl3pPr marL="913486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3pPr>
            <a:lvl4pPr marL="137022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6971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3714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0457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720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3942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07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26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11" y="1611880"/>
            <a:ext cx="18443377" cy="585180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6"/>
            <a:ext cx="9046273" cy="3637229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743" indent="0">
              <a:buNone/>
              <a:defRPr sz="1998" b="1"/>
            </a:lvl2pPr>
            <a:lvl3pPr marL="913486" indent="0">
              <a:buNone/>
              <a:defRPr sz="1798" b="1"/>
            </a:lvl3pPr>
            <a:lvl4pPr marL="1370228" indent="0">
              <a:buNone/>
              <a:defRPr sz="1598" b="1"/>
            </a:lvl4pPr>
            <a:lvl5pPr marL="1826971" indent="0">
              <a:buNone/>
              <a:defRPr sz="1598" b="1"/>
            </a:lvl5pPr>
            <a:lvl6pPr marL="2283714" indent="0">
              <a:buNone/>
              <a:defRPr sz="1598" b="1"/>
            </a:lvl6pPr>
            <a:lvl7pPr marL="2740457" indent="0">
              <a:buNone/>
              <a:defRPr sz="1598" b="1"/>
            </a:lvl7pPr>
            <a:lvl8pPr marL="3197200" indent="0">
              <a:buNone/>
              <a:defRPr sz="1598" b="1"/>
            </a:lvl8pPr>
            <a:lvl9pPr marL="3653942" indent="0">
              <a:buNone/>
              <a:defRPr sz="159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5"/>
            <a:ext cx="9046273" cy="162659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0" y="7421636"/>
            <a:ext cx="9090827" cy="3637229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743" indent="0">
              <a:buNone/>
              <a:defRPr sz="1998" b="1"/>
            </a:lvl2pPr>
            <a:lvl3pPr marL="913486" indent="0">
              <a:buNone/>
              <a:defRPr sz="1798" b="1"/>
            </a:lvl3pPr>
            <a:lvl4pPr marL="1370228" indent="0">
              <a:buNone/>
              <a:defRPr sz="1598" b="1"/>
            </a:lvl4pPr>
            <a:lvl5pPr marL="1826971" indent="0">
              <a:buNone/>
              <a:defRPr sz="1598" b="1"/>
            </a:lvl5pPr>
            <a:lvl6pPr marL="2283714" indent="0">
              <a:buNone/>
              <a:defRPr sz="1598" b="1"/>
            </a:lvl6pPr>
            <a:lvl7pPr marL="2740457" indent="0">
              <a:buNone/>
              <a:defRPr sz="1598" b="1"/>
            </a:lvl7pPr>
            <a:lvl8pPr marL="3197200" indent="0">
              <a:buNone/>
              <a:defRPr sz="1598" b="1"/>
            </a:lvl8pPr>
            <a:lvl9pPr marL="3653942" indent="0">
              <a:buNone/>
              <a:defRPr sz="159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0" y="11058865"/>
            <a:ext cx="9090827" cy="162659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63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27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1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10" y="2018348"/>
            <a:ext cx="6896776" cy="7064217"/>
          </a:xfrm>
        </p:spPr>
        <p:txBody>
          <a:bodyPr anchor="b"/>
          <a:lstStyle>
            <a:lvl1pPr>
              <a:defRPr sz="319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7" y="4359077"/>
            <a:ext cx="10825460" cy="21515024"/>
          </a:xfrm>
        </p:spPr>
        <p:txBody>
          <a:bodyPr/>
          <a:lstStyle>
            <a:lvl1pPr>
              <a:defRPr sz="3197"/>
            </a:lvl1pPr>
            <a:lvl2pPr>
              <a:defRPr sz="2797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10" y="9082564"/>
            <a:ext cx="6896776" cy="16826573"/>
          </a:xfrm>
        </p:spPr>
        <p:txBody>
          <a:bodyPr/>
          <a:lstStyle>
            <a:lvl1pPr marL="0" indent="0">
              <a:buNone/>
              <a:defRPr sz="1598"/>
            </a:lvl1pPr>
            <a:lvl2pPr marL="456743" indent="0">
              <a:buNone/>
              <a:defRPr sz="1399"/>
            </a:lvl2pPr>
            <a:lvl3pPr marL="913486" indent="0">
              <a:buNone/>
              <a:defRPr sz="1199"/>
            </a:lvl3pPr>
            <a:lvl4pPr marL="1370228" indent="0">
              <a:buNone/>
              <a:defRPr sz="999"/>
            </a:lvl4pPr>
            <a:lvl5pPr marL="1826971" indent="0">
              <a:buNone/>
              <a:defRPr sz="999"/>
            </a:lvl5pPr>
            <a:lvl6pPr marL="2283714" indent="0">
              <a:buNone/>
              <a:defRPr sz="999"/>
            </a:lvl6pPr>
            <a:lvl7pPr marL="2740457" indent="0">
              <a:buNone/>
              <a:defRPr sz="999"/>
            </a:lvl7pPr>
            <a:lvl8pPr marL="3197200" indent="0">
              <a:buNone/>
              <a:defRPr sz="999"/>
            </a:lvl8pPr>
            <a:lvl9pPr marL="3653942" indent="0">
              <a:buNone/>
              <a:defRPr sz="999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028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10" y="2018348"/>
            <a:ext cx="6896776" cy="7064217"/>
          </a:xfrm>
        </p:spPr>
        <p:txBody>
          <a:bodyPr anchor="b"/>
          <a:lstStyle>
            <a:lvl1pPr>
              <a:defRPr sz="319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7" y="4359077"/>
            <a:ext cx="10825460" cy="21515024"/>
          </a:xfrm>
        </p:spPr>
        <p:txBody>
          <a:bodyPr anchor="t"/>
          <a:lstStyle>
            <a:lvl1pPr marL="0" indent="0">
              <a:buNone/>
              <a:defRPr sz="3197"/>
            </a:lvl1pPr>
            <a:lvl2pPr marL="456743" indent="0">
              <a:buNone/>
              <a:defRPr sz="2797"/>
            </a:lvl2pPr>
            <a:lvl3pPr marL="913486" indent="0">
              <a:buNone/>
              <a:defRPr sz="2398"/>
            </a:lvl3pPr>
            <a:lvl4pPr marL="1370228" indent="0">
              <a:buNone/>
              <a:defRPr sz="1998"/>
            </a:lvl4pPr>
            <a:lvl5pPr marL="1826971" indent="0">
              <a:buNone/>
              <a:defRPr sz="1998"/>
            </a:lvl5pPr>
            <a:lvl6pPr marL="2283714" indent="0">
              <a:buNone/>
              <a:defRPr sz="1998"/>
            </a:lvl6pPr>
            <a:lvl7pPr marL="2740457" indent="0">
              <a:buNone/>
              <a:defRPr sz="1998"/>
            </a:lvl7pPr>
            <a:lvl8pPr marL="3197200" indent="0">
              <a:buNone/>
              <a:defRPr sz="1998"/>
            </a:lvl8pPr>
            <a:lvl9pPr marL="3653942" indent="0">
              <a:buNone/>
              <a:defRPr sz="1998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10" y="9082564"/>
            <a:ext cx="6896776" cy="16826573"/>
          </a:xfrm>
        </p:spPr>
        <p:txBody>
          <a:bodyPr/>
          <a:lstStyle>
            <a:lvl1pPr marL="0" indent="0">
              <a:buNone/>
              <a:defRPr sz="1598"/>
            </a:lvl1pPr>
            <a:lvl2pPr marL="456743" indent="0">
              <a:buNone/>
              <a:defRPr sz="1399"/>
            </a:lvl2pPr>
            <a:lvl3pPr marL="913486" indent="0">
              <a:buNone/>
              <a:defRPr sz="1199"/>
            </a:lvl3pPr>
            <a:lvl4pPr marL="1370228" indent="0">
              <a:buNone/>
              <a:defRPr sz="999"/>
            </a:lvl4pPr>
            <a:lvl5pPr marL="1826971" indent="0">
              <a:buNone/>
              <a:defRPr sz="999"/>
            </a:lvl5pPr>
            <a:lvl6pPr marL="2283714" indent="0">
              <a:buNone/>
              <a:defRPr sz="999"/>
            </a:lvl6pPr>
            <a:lvl7pPr marL="2740457" indent="0">
              <a:buNone/>
              <a:defRPr sz="999"/>
            </a:lvl7pPr>
            <a:lvl8pPr marL="3197200" indent="0">
              <a:buNone/>
              <a:defRPr sz="999"/>
            </a:lvl8pPr>
            <a:lvl9pPr marL="3653942" indent="0">
              <a:buNone/>
              <a:defRPr sz="999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48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845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8" cy="256568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13CC-6532-4BC1-B4AB-124CFE807C82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84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5" y="1611880"/>
            <a:ext cx="18443377" cy="58518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5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213CC-6532-4BC1-B4AB-124CFE807C82}" type="datetimeFigureOut">
              <a:rPr lang="ru-RU" smtClean="0"/>
              <a:t>30.11.2022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7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6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44397-093C-40E5-9891-3C72A9DBBE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85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3486" rtl="0" eaLnBrk="1" latinLnBrk="0" hangingPunct="1">
        <a:lnSpc>
          <a:spcPct val="90000"/>
        </a:lnSpc>
        <a:spcBef>
          <a:spcPct val="0"/>
        </a:spcBef>
        <a:buNone/>
        <a:defRPr sz="43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71" indent="-228371" algn="l" defTabSz="913486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7" kern="1200">
          <a:solidFill>
            <a:schemeClr val="tx1"/>
          </a:solidFill>
          <a:latin typeface="+mn-lt"/>
          <a:ea typeface="+mn-ea"/>
          <a:cs typeface="+mn-cs"/>
        </a:defRPr>
      </a:lvl1pPr>
      <a:lvl2pPr marL="6851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1857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600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343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085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828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571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23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743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486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228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971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714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457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720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942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6000"/>
            <a:lum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2B0B95B-9855-417E-B710-57656FFC0848}"/>
              </a:ext>
            </a:extLst>
          </p:cNvPr>
          <p:cNvSpPr/>
          <p:nvPr/>
        </p:nvSpPr>
        <p:spPr>
          <a:xfrm>
            <a:off x="3944720" y="6325646"/>
            <a:ext cx="16685055" cy="15908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4A7FF9-20B0-47AC-AE54-A22C7FE9B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5568" y="13395380"/>
            <a:ext cx="1098392" cy="1492928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E107EE-3E37-4D71-A36C-109FBEACE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46007" y="15591691"/>
            <a:ext cx="3579121" cy="1335737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2E615F7-EBAC-4EEC-8DBC-8308AD278921}"/>
              </a:ext>
            </a:extLst>
          </p:cNvPr>
          <p:cNvSpPr/>
          <p:nvPr/>
        </p:nvSpPr>
        <p:spPr>
          <a:xfrm>
            <a:off x="3944721" y="246186"/>
            <a:ext cx="16649692" cy="1828800"/>
          </a:xfrm>
          <a:prstGeom prst="rect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Исследование колебательного контура с источником тока </a:t>
            </a:r>
            <a:endParaRPr lang="ru-RU" sz="6000" dirty="0">
              <a:solidFill>
                <a:schemeClr val="bg1"/>
              </a:solidFill>
              <a:latin typeface="Corbel" panose="020B05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C6B80F2-48AB-456F-93AF-A6C25025A6E2}"/>
              </a:ext>
            </a:extLst>
          </p:cNvPr>
          <p:cNvSpPr/>
          <p:nvPr/>
        </p:nvSpPr>
        <p:spPr>
          <a:xfrm>
            <a:off x="3944719" y="2371516"/>
            <a:ext cx="8096341" cy="1828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tx2">
                <a:lumMod val="40000"/>
                <a:lumOff val="60000"/>
              </a:scheme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Авторы:  Ибрагимов Р.А.</a:t>
            </a:r>
          </a:p>
          <a:p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</a:t>
            </a:r>
            <a:r>
              <a:rPr lang="ru-RU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Мархаев</a:t>
            </a:r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А.М.</a:t>
            </a:r>
          </a:p>
          <a:p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Салимов Д.Р.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580F92E-2733-474E-AB4E-DA05C57152F4}"/>
              </a:ext>
            </a:extLst>
          </p:cNvPr>
          <p:cNvSpPr/>
          <p:nvPr/>
        </p:nvSpPr>
        <p:spPr>
          <a:xfrm>
            <a:off x="12669613" y="2371516"/>
            <a:ext cx="7924796" cy="1828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Преподаватели: Власова Е.З.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Гончарова С.В.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2449C06-1308-446B-B1E2-5610AE33CCB0}"/>
              </a:ext>
            </a:extLst>
          </p:cNvPr>
          <p:cNvSpPr/>
          <p:nvPr/>
        </p:nvSpPr>
        <p:spPr>
          <a:xfrm>
            <a:off x="3944719" y="4495137"/>
            <a:ext cx="16685056" cy="18288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Вся работа посвящена исследованию зависимостей заряда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цепи от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силы тока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напряжения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где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единица времени. Также были даны ответы на вопросы, заданные в постановке задачи. Графики проанализированы, также сделаны выводы. В построении модели участвовали следующие формулы:</a:t>
            </a:r>
            <a:endParaRPr lang="en-US" sz="28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rgbClr val="FF0000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F07DFDF-FFBA-4BA1-8A1C-CF839420C1C7}"/>
              </a:ext>
            </a:extLst>
          </p:cNvPr>
          <p:cNvSpPr/>
          <p:nvPr/>
        </p:nvSpPr>
        <p:spPr>
          <a:xfrm>
            <a:off x="3949008" y="26830488"/>
            <a:ext cx="16933919" cy="2505584"/>
          </a:xfrm>
          <a:prstGeom prst="rect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проведения вычислительного эксперимента, нам удалось найти зависимости заряда q, силы тока I и напряжения U от времени. С помощью таблицы </a:t>
            </a:r>
            <a:r>
              <a:rPr lang="ru-RU" sz="3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мы построили графики, получились косинусоиды и правильная синусоида, также дали ответы на заданные вопросы.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DD0A46B-E962-4BA2-BA8F-CB3CB00AA818}"/>
              </a:ext>
            </a:extLst>
          </p:cNvPr>
          <p:cNvSpPr/>
          <p:nvPr/>
        </p:nvSpPr>
        <p:spPr>
          <a:xfrm>
            <a:off x="0" y="-1"/>
            <a:ext cx="3467100" cy="3027521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2AE3362-C1E3-46A7-BAD1-50CF829FA8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" y="1005326"/>
            <a:ext cx="3378298" cy="3411491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388D573D-FD6C-4EE6-B2AC-1203A06C92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4718" y="18303465"/>
            <a:ext cx="10776056" cy="4835154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40EBABC2-FDDB-4376-A85F-60DCFB1646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3298" y="13210108"/>
            <a:ext cx="10747476" cy="4763165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B18F77A9-07CC-49BE-AD14-21BDB1DBE3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4718" y="8123543"/>
            <a:ext cx="10747476" cy="4791744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2B6B853A-8031-42FF-B7DC-D8CB52D055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5451" y="5989727"/>
            <a:ext cx="4458322" cy="1146867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ADBDA144-1CEF-46DD-A8DD-C651E5C989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4766" y="5956911"/>
            <a:ext cx="4677428" cy="1179683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1859F2C8-93D8-4D16-9A08-5A35025139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53187" y="5989727"/>
            <a:ext cx="4305901" cy="1146867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B8752305-4FAE-444A-8CAF-89F2162DEE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180329" y="7997609"/>
            <a:ext cx="2414080" cy="4791744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246646AE-FD03-4B6E-9128-4F5DB17AFD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06137" y="13278967"/>
            <a:ext cx="2414080" cy="4665234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67C420DD-2B03-48B8-831C-051D7CCDB40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06137" y="18282238"/>
            <a:ext cx="2414080" cy="4832023"/>
          </a:xfrm>
          <a:prstGeom prst="rect">
            <a:avLst/>
          </a:prstGeom>
        </p:spPr>
      </p:pic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7B376D10-CE06-496A-8E36-71081DDB77D4}"/>
              </a:ext>
            </a:extLst>
          </p:cNvPr>
          <p:cNvSpPr/>
          <p:nvPr/>
        </p:nvSpPr>
        <p:spPr>
          <a:xfrm>
            <a:off x="3944718" y="23513956"/>
            <a:ext cx="5579166" cy="2941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9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П</a:t>
            </a:r>
            <a:r>
              <a:rPr lang="ru-RU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 каком значении q заряд совершает гармонические колебания?</a:t>
            </a:r>
          </a:p>
          <a:p>
            <a:r>
              <a:rPr lang="ru-RU" sz="1900" dirty="0">
                <a:latin typeface="Times New Roman" panose="02020603050405020304" pitchFamily="18" charset="0"/>
              </a:rPr>
              <a:t>-Гармонические колебания совершаются при значении q равном -35,5. </a:t>
            </a:r>
          </a:p>
          <a:p>
            <a:endParaRPr lang="ru-RU" sz="1900" dirty="0">
              <a:latin typeface="Times New Roman" panose="02020603050405020304" pitchFamily="18" charset="0"/>
            </a:endParaRPr>
          </a:p>
          <a:p>
            <a:r>
              <a:rPr lang="ru-RU" sz="1900" dirty="0">
                <a:latin typeface="Times New Roman" panose="02020603050405020304" pitchFamily="18" charset="0"/>
              </a:rPr>
              <a:t>2. </a:t>
            </a:r>
            <a:r>
              <a:rPr lang="ru-RU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каком диапазоне q происходят колебания заряда ? Меняется ли знак заряда пластины конденсатора? </a:t>
            </a:r>
          </a:p>
          <a:p>
            <a:r>
              <a:rPr lang="ru-RU" sz="1900" dirty="0">
                <a:latin typeface="Times New Roman" panose="02020603050405020304" pitchFamily="18" charset="0"/>
              </a:rPr>
              <a:t>- Знак заряда пластины конденсатора не меняется. Колебания заряда q происходят в диапазоне от -6 до -77. </a:t>
            </a:r>
            <a:endParaRPr lang="ru-RU" sz="1900" dirty="0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CC5A28A5-76DB-473F-87BD-ABF9E7B7EC8B}"/>
              </a:ext>
            </a:extLst>
          </p:cNvPr>
          <p:cNvSpPr/>
          <p:nvPr/>
        </p:nvSpPr>
        <p:spPr>
          <a:xfrm>
            <a:off x="9849824" y="23513957"/>
            <a:ext cx="5353582" cy="13605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Около какого значения I происходят колебания тока ? </a:t>
            </a:r>
          </a:p>
          <a:p>
            <a:r>
              <a:rPr lang="ru-RU" sz="1900" dirty="0">
                <a:latin typeface="Times New Roman" panose="02020603050405020304" pitchFamily="18" charset="0"/>
              </a:rPr>
              <a:t>-Гармонические колебания тока происходят около значения I равном 0 .</a:t>
            </a:r>
            <a:endParaRPr lang="ru-RU" sz="1900" dirty="0"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68D8BC96-C9E3-44C6-B50E-67C35CFFAD72}"/>
              </a:ext>
            </a:extLst>
          </p:cNvPr>
          <p:cNvSpPr/>
          <p:nvPr/>
        </p:nvSpPr>
        <p:spPr>
          <a:xfrm>
            <a:off x="15529346" y="23513956"/>
            <a:ext cx="5353582" cy="2941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5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За счет чего источник с э. д. с., равной ε может зарядить конденсатор до напряжения, равного 2 ε ?</a:t>
            </a:r>
          </a:p>
          <a:p>
            <a:r>
              <a:rPr lang="ru-RU" sz="2500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-</a:t>
            </a:r>
            <a:r>
              <a:rPr lang="ru-RU" sz="2500" u="none" strike="noStrike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За счет увеличения в 2 раза суммы напряжения на конденсаторе и катушке.</a:t>
            </a:r>
          </a:p>
          <a:p>
            <a:pPr algn="ctr"/>
            <a:endParaRPr lang="ru-RU" dirty="0"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E5185F96-712A-4248-B58B-A8C2930A56EA}"/>
              </a:ext>
            </a:extLst>
          </p:cNvPr>
          <p:cNvSpPr/>
          <p:nvPr/>
        </p:nvSpPr>
        <p:spPr>
          <a:xfrm>
            <a:off x="9849824" y="25094617"/>
            <a:ext cx="5353582" cy="1360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Каково максимальное значение напряжения на конденсаторе ? </a:t>
            </a:r>
          </a:p>
          <a:p>
            <a:r>
              <a:rPr lang="ru-RU" sz="2000" dirty="0">
                <a:latin typeface="Times New Roman" panose="02020603050405020304" pitchFamily="18" charset="0"/>
              </a:rPr>
              <a:t>-Максимальное значение напряжение на конденсаторе по заданию 3 - это “13”.</a:t>
            </a:r>
            <a:endParaRPr lang="ru-RU" sz="2000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5DBE8CD-50B3-4F5A-8630-97E564B1A9FB}"/>
              </a:ext>
            </a:extLst>
          </p:cNvPr>
          <p:cNvSpPr/>
          <p:nvPr/>
        </p:nvSpPr>
        <p:spPr>
          <a:xfrm>
            <a:off x="15260051" y="8123246"/>
            <a:ext cx="2414080" cy="11426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C98B91CA-08F4-479A-84E4-48D96C003DC9}"/>
              </a:ext>
            </a:extLst>
          </p:cNvPr>
          <p:cNvSpPr/>
          <p:nvPr/>
        </p:nvSpPr>
        <p:spPr>
          <a:xfrm>
            <a:off x="15260051" y="13210108"/>
            <a:ext cx="2414080" cy="11426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2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43FD0CC1-4AB6-4381-A55F-FD5E6CB4DCFD}"/>
              </a:ext>
            </a:extLst>
          </p:cNvPr>
          <p:cNvSpPr/>
          <p:nvPr/>
        </p:nvSpPr>
        <p:spPr>
          <a:xfrm>
            <a:off x="15260051" y="18282237"/>
            <a:ext cx="2414080" cy="11426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3</a:t>
            </a:r>
          </a:p>
        </p:txBody>
      </p:sp>
    </p:spTree>
    <p:extLst>
      <p:ext uri="{BB962C8B-B14F-4D97-AF65-F5344CB8AC3E}">
        <p14:creationId xmlns:p14="http://schemas.microsoft.com/office/powerpoint/2010/main" val="2890504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628</TotalTime>
  <Words>292</Words>
  <Application>Microsoft Office PowerPoint</Application>
  <PresentationFormat>Произвольный</PresentationFormat>
  <Paragraphs>24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Corbel</vt:lpstr>
      <vt:lpstr>Times New Roman</vt:lpstr>
      <vt:lpstr>Тема Office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пп пр</dc:creator>
  <cp:lastModifiedBy>пп пр</cp:lastModifiedBy>
  <cp:revision>12</cp:revision>
  <dcterms:created xsi:type="dcterms:W3CDTF">2022-10-25T15:58:43Z</dcterms:created>
  <dcterms:modified xsi:type="dcterms:W3CDTF">2022-11-30T12:34:08Z</dcterms:modified>
</cp:coreProperties>
</file>