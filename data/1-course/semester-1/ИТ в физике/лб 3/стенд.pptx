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1pPr>
    <a:lvl2pPr marL="1108116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2pPr>
    <a:lvl3pPr marL="2216231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3pPr>
    <a:lvl4pPr marL="3324347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4pPr>
    <a:lvl5pPr marL="4432463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5pPr>
    <a:lvl6pPr marL="5540578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6pPr>
    <a:lvl7pPr marL="6648694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7pPr>
    <a:lvl8pPr marL="7756809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8pPr>
    <a:lvl9pPr marL="8864925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141" y="-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6667E-2E91-43FC-9495-CD154B32482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5BE6-C137-459B-BC65-4B84648D8C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10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1pPr>
    <a:lvl2pPr marL="1108116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2pPr>
    <a:lvl3pPr marL="2216231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3pPr>
    <a:lvl4pPr marL="3324347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4pPr>
    <a:lvl5pPr marL="4432463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5pPr>
    <a:lvl6pPr marL="5540578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6pPr>
    <a:lvl7pPr marL="6648694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7pPr>
    <a:lvl8pPr marL="7756809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8pPr>
    <a:lvl9pPr marL="8864925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35BE6-C137-459B-BC65-4B84648D8C8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93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3" y="4954765"/>
            <a:ext cx="18176082" cy="10540260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5" y="15901499"/>
            <a:ext cx="16037718" cy="7309500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34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8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9" y="7547789"/>
            <a:ext cx="18443377" cy="12593646"/>
          </a:xfrm>
        </p:spPr>
        <p:txBody>
          <a:bodyPr anchor="b"/>
          <a:lstStyle>
            <a:lvl1pPr>
              <a:defRPr sz="599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9" y="20260575"/>
            <a:ext cx="18443377" cy="6622701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/>
                </a:solidFill>
              </a:defRPr>
            </a:lvl1pPr>
            <a:lvl2pPr marL="456743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486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22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6971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3714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045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720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3942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7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26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1" y="1611880"/>
            <a:ext cx="18443377" cy="585180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6"/>
            <a:ext cx="9046273" cy="3637229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5"/>
            <a:ext cx="9046273" cy="162659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0" y="7421636"/>
            <a:ext cx="9090827" cy="3637229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0" y="11058865"/>
            <a:ext cx="9090827" cy="162659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63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27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1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6" cy="706421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7" y="4359077"/>
            <a:ext cx="10825460" cy="21515024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6" cy="16826573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02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6" cy="706421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7" y="4359077"/>
            <a:ext cx="10825460" cy="21515024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743" indent="0">
              <a:buNone/>
              <a:defRPr sz="2797"/>
            </a:lvl2pPr>
            <a:lvl3pPr marL="913486" indent="0">
              <a:buNone/>
              <a:defRPr sz="2398"/>
            </a:lvl3pPr>
            <a:lvl4pPr marL="1370228" indent="0">
              <a:buNone/>
              <a:defRPr sz="1998"/>
            </a:lvl4pPr>
            <a:lvl5pPr marL="1826971" indent="0">
              <a:buNone/>
              <a:defRPr sz="1998"/>
            </a:lvl5pPr>
            <a:lvl6pPr marL="2283714" indent="0">
              <a:buNone/>
              <a:defRPr sz="1998"/>
            </a:lvl6pPr>
            <a:lvl7pPr marL="2740457" indent="0">
              <a:buNone/>
              <a:defRPr sz="1998"/>
            </a:lvl7pPr>
            <a:lvl8pPr marL="3197200" indent="0">
              <a:buNone/>
              <a:defRPr sz="1998"/>
            </a:lvl8pPr>
            <a:lvl9pPr marL="3653942" indent="0">
              <a:buNone/>
              <a:defRPr sz="1998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6" cy="16826573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4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8" cy="256568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4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5" y="1611880"/>
            <a:ext cx="18443377" cy="5851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5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213CC-6532-4BC1-B4AB-124CFE807C82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6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85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6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2B0B95B-9855-417E-B710-57656FFC0848}"/>
              </a:ext>
            </a:extLst>
          </p:cNvPr>
          <p:cNvSpPr/>
          <p:nvPr/>
        </p:nvSpPr>
        <p:spPr>
          <a:xfrm>
            <a:off x="3944720" y="6629519"/>
            <a:ext cx="16685055" cy="15908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A7FF9-20B0-47AC-AE54-A22C7FE9B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5568" y="13395380"/>
            <a:ext cx="1098392" cy="149292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E107EE-3E37-4D71-A36C-109FBEACE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46007" y="15591691"/>
            <a:ext cx="3579121" cy="133573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2E615F7-EBAC-4EEC-8DBC-8308AD278921}"/>
              </a:ext>
            </a:extLst>
          </p:cNvPr>
          <p:cNvSpPr/>
          <p:nvPr/>
        </p:nvSpPr>
        <p:spPr>
          <a:xfrm>
            <a:off x="3944721" y="246185"/>
            <a:ext cx="16649692" cy="2208035"/>
          </a:xfrm>
          <a:prstGeom prst="rect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5000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Моделирование Движения тела, брошенного под углом к горизонту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6B80F2-48AB-456F-93AF-A6C25025A6E2}"/>
              </a:ext>
            </a:extLst>
          </p:cNvPr>
          <p:cNvSpPr/>
          <p:nvPr/>
        </p:nvSpPr>
        <p:spPr>
          <a:xfrm>
            <a:off x="3943256" y="2711072"/>
            <a:ext cx="8096341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tx2">
                <a:lumMod val="40000"/>
                <a:lumOff val="6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Corbel" panose="020B0503020204020204" pitchFamily="34" charset="0"/>
              </a:rPr>
              <a:t>Авторы: Ибрагимов Р.А.</a:t>
            </a:r>
          </a:p>
          <a:p>
            <a:r>
              <a:rPr lang="ru-RU" dirty="0">
                <a:latin typeface="Corbel" panose="020B0503020204020204" pitchFamily="34" charset="0"/>
              </a:rPr>
              <a:t>	         </a:t>
            </a:r>
            <a:r>
              <a:rPr lang="ru-RU" dirty="0" err="1">
                <a:latin typeface="Corbel" panose="020B0503020204020204" pitchFamily="34" charset="0"/>
              </a:rPr>
              <a:t>Мархаев</a:t>
            </a:r>
            <a:r>
              <a:rPr lang="ru-RU" dirty="0">
                <a:latin typeface="Corbel" panose="020B0503020204020204" pitchFamily="34" charset="0"/>
              </a:rPr>
              <a:t> А.М.</a:t>
            </a:r>
          </a:p>
          <a:p>
            <a:r>
              <a:rPr lang="ru-RU" dirty="0">
                <a:latin typeface="Corbel" panose="020B0503020204020204" pitchFamily="34" charset="0"/>
              </a:rPr>
              <a:t>	         Салимов Д.Р.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80F92E-2733-474E-AB4E-DA05C57152F4}"/>
              </a:ext>
            </a:extLst>
          </p:cNvPr>
          <p:cNvSpPr/>
          <p:nvPr/>
        </p:nvSpPr>
        <p:spPr>
          <a:xfrm>
            <a:off x="12669617" y="2698968"/>
            <a:ext cx="7924796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Corbel" panose="020B0503020204020204" pitchFamily="34" charset="0"/>
              </a:rPr>
              <a:t>Преподаватели: Власова Е.З.</a:t>
            </a:r>
          </a:p>
          <a:p>
            <a:r>
              <a:rPr lang="ru-RU" dirty="0">
                <a:latin typeface="Corbel" panose="020B0503020204020204" pitchFamily="34" charset="0"/>
              </a:rPr>
              <a:t>			      Гончарова С.В.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2449C06-1308-446B-B1E2-5610AE33CCB0}"/>
              </a:ext>
            </a:extLst>
          </p:cNvPr>
          <p:cNvSpPr/>
          <p:nvPr/>
        </p:nvSpPr>
        <p:spPr>
          <a:xfrm>
            <a:off x="3944719" y="4838766"/>
            <a:ext cx="16685056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rPr>
              <a:t>Вся работа посвящена исследованию движения тела брошенного под углом к горизонту. Расчеты проводились при помощи вывода формул. В данной работе произведено решение практической части в программе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rPr>
              <a:t>Excel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rPr>
              <a:t>. После выведений формул были использованы: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Corbel" panose="020B0503020204020204" pitchFamily="34" charset="0"/>
            </a:endParaRPr>
          </a:p>
          <a:p>
            <a:endParaRPr lang="ru-RU" sz="30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7DFF738-2B01-42B3-95C3-29165980E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410" y="6358286"/>
            <a:ext cx="5227498" cy="159089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66C76A1-462F-4735-A5BC-0C71DB13E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597" y="6361120"/>
            <a:ext cx="5233312" cy="161947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EE4D8B5-77F9-4EA0-88D3-6CC93226E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4598" y="6361120"/>
            <a:ext cx="5227130" cy="1590897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476BD3B-9E63-436D-A133-5BD12B5D08F2}"/>
              </a:ext>
            </a:extLst>
          </p:cNvPr>
          <p:cNvSpPr/>
          <p:nvPr/>
        </p:nvSpPr>
        <p:spPr>
          <a:xfrm>
            <a:off x="12995021" y="8366243"/>
            <a:ext cx="7617068" cy="47402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900" dirty="0">
                <a:latin typeface="Corbel" panose="020B0503020204020204" pitchFamily="34" charset="0"/>
              </a:rPr>
              <a:t>В первом эксперименте нужно найти угол к горизонту при котором дальность полета снаряда из пушки была бы максимальна. В условие были даны: V0=200 м/с и константа g=9,8 м/с^2 </a:t>
            </a:r>
          </a:p>
          <a:p>
            <a:r>
              <a:rPr lang="ru-RU" sz="2900" dirty="0">
                <a:latin typeface="Corbel" panose="020B0503020204020204" pitchFamily="34" charset="0"/>
              </a:rPr>
              <a:t>Были проведены расчеты, которые представлены в таблице. </a:t>
            </a:r>
          </a:p>
          <a:p>
            <a:r>
              <a:rPr lang="ru-RU" sz="2900" dirty="0">
                <a:latin typeface="Corbel" panose="020B0503020204020204" pitchFamily="34" charset="0"/>
              </a:rPr>
              <a:t>Благодаря им мы видим, что максимальная дальность полета снаряда была достигнута под углом равный 45 градусам. </a:t>
            </a:r>
          </a:p>
          <a:p>
            <a:endParaRPr lang="ru-RU" sz="2900" dirty="0">
              <a:latin typeface="Corbel" panose="020B0503020204020204" pitchFamily="34" charset="0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949F1AC-DE13-4D40-BBCF-9E9F3915C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009" y="8368812"/>
            <a:ext cx="8917835" cy="473772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A75A2BDF-270E-4879-B72A-B42E1DE43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0168" y="13254928"/>
            <a:ext cx="8913289" cy="2774852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AAD95CE7-0A6C-465D-9136-F08CC1EC84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4587" y="16029780"/>
            <a:ext cx="8904449" cy="29108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6ABE46-0CC1-48E8-BD1D-35E45FE0EA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0166" y="18861104"/>
            <a:ext cx="8904448" cy="185360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042C1D6-3D5E-4778-AD4D-AD018F64A3CC}"/>
              </a:ext>
            </a:extLst>
          </p:cNvPr>
          <p:cNvSpPr/>
          <p:nvPr/>
        </p:nvSpPr>
        <p:spPr>
          <a:xfrm>
            <a:off x="13012830" y="13290274"/>
            <a:ext cx="7594843" cy="74623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600" dirty="0">
                <a:latin typeface="Corbel" panose="020B0503020204020204" pitchFamily="34" charset="0"/>
              </a:rPr>
              <a:t>Постановка второй задачи звучит следующим образом: </a:t>
            </a:r>
            <a:r>
              <a:rPr lang="ru-RU" sz="2600" b="0" i="0" dirty="0">
                <a:solidFill>
                  <a:srgbClr val="FFFFFF"/>
                </a:solidFill>
                <a:effectLst/>
                <a:latin typeface="Corbel" panose="020B0503020204020204" pitchFamily="34" charset="0"/>
              </a:rPr>
              <a:t>На полигоне проводятся учения. Миномёт должен попасть в цель, которая находится на расстоянии 3500 м. Миномёт стреляет под углом 60 градусов. Найдите максимальную высоту, время, в которое снаряд достиг максимальной высоты, дальность и продолжительность полёта снаряда. 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При исходных данных </a:t>
            </a:r>
            <a:r>
              <a:rPr lang="en-US" sz="2600" dirty="0">
                <a:solidFill>
                  <a:srgbClr val="FFFFFF"/>
                </a:solidFill>
                <a:latin typeface="Corbel" panose="020B0503020204020204" pitchFamily="34" charset="0"/>
              </a:rPr>
              <a:t>Vo = 200 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м</a:t>
            </a:r>
            <a:r>
              <a:rPr lang="en-US" sz="2600" dirty="0">
                <a:solidFill>
                  <a:srgbClr val="FFFFFF"/>
                </a:solidFill>
                <a:latin typeface="Corbel" panose="020B0503020204020204" pitchFamily="34" charset="0"/>
              </a:rPr>
              <a:t>/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с и </a:t>
            </a:r>
            <a:r>
              <a:rPr lang="en-US" sz="2600" dirty="0">
                <a:solidFill>
                  <a:srgbClr val="FFFFFF"/>
                </a:solidFill>
                <a:latin typeface="Corbel" panose="020B0503020204020204" pitchFamily="34" charset="0"/>
              </a:rPr>
              <a:t>g = 9,8 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м</a:t>
            </a:r>
            <a:r>
              <a:rPr lang="en-US" sz="2600" dirty="0">
                <a:solidFill>
                  <a:srgbClr val="FFFFFF"/>
                </a:solidFill>
                <a:latin typeface="Corbel" panose="020B0503020204020204" pitchFamily="34" charset="0"/>
              </a:rPr>
              <a:t>/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с</a:t>
            </a:r>
            <a:r>
              <a:rPr lang="en-US" sz="2600" dirty="0">
                <a:solidFill>
                  <a:srgbClr val="FFFFFF"/>
                </a:solidFill>
                <a:latin typeface="Corbel" panose="020B0503020204020204" pitchFamily="34" charset="0"/>
              </a:rPr>
              <a:t>^2</a:t>
            </a:r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. В таблице представлены расчеты по данной задаче, а в графике траектория полета снаряда. </a:t>
            </a:r>
          </a:p>
          <a:p>
            <a:endParaRPr lang="ru-RU" sz="2600" dirty="0">
              <a:solidFill>
                <a:srgbClr val="FFFFFF"/>
              </a:solidFill>
              <a:latin typeface="Corbel" panose="020B0503020204020204" pitchFamily="34" charset="0"/>
            </a:endParaRPr>
          </a:p>
          <a:p>
            <a:r>
              <a:rPr lang="ru-RU" sz="2600" dirty="0">
                <a:solidFill>
                  <a:srgbClr val="FFFFFF"/>
                </a:solidFill>
                <a:latin typeface="Corbel" panose="020B0503020204020204" pitchFamily="34" charset="0"/>
              </a:rPr>
              <a:t>По этим вычислениям мы видим, что снаряд достигнет цели за 35 секунд, пролетит на 3500 метров, максимальная его высота будет равна 1530 метров, и достигнута эта высота будет спустя 17,5 секунд после запуска. А также можем наблюдать зависимость дальности полета снаряда от угла, под которым он направлен</a:t>
            </a:r>
            <a:endParaRPr lang="ru-RU" sz="2600" dirty="0">
              <a:latin typeface="Corbel" panose="020B0503020204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07DFDF-FFBA-4BA1-8A1C-CF839420C1C7}"/>
              </a:ext>
            </a:extLst>
          </p:cNvPr>
          <p:cNvSpPr/>
          <p:nvPr/>
        </p:nvSpPr>
        <p:spPr>
          <a:xfrm>
            <a:off x="3949009" y="26830488"/>
            <a:ext cx="16645400" cy="2505584"/>
          </a:xfrm>
          <a:prstGeom prst="rect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rbel" panose="020B0503020204020204" pitchFamily="34" charset="0"/>
              </a:rPr>
              <a:t>В результате всех вычислений, мы поняли, что данного рода задачи возможно решать без практики. Чтобы найти точный ответ достаточно уметь выводить формулы и уметь строить физическую модель в таких программах, как </a:t>
            </a:r>
            <a:r>
              <a:rPr lang="ru-RU" dirty="0" err="1">
                <a:latin typeface="Corbel" panose="020B0503020204020204" pitchFamily="34" charset="0"/>
              </a:rPr>
              <a:t>Excel</a:t>
            </a:r>
            <a:r>
              <a:rPr lang="ru-RU" dirty="0">
                <a:latin typeface="Corbel" panose="020B0503020204020204" pitchFamily="34" charset="0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6DFA1D2-88BF-4EA6-A073-D96A533E70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9009" y="21222317"/>
            <a:ext cx="2844598" cy="496066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14AC906-5A97-48D0-96C3-97E2A7D226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8925" y="21222316"/>
            <a:ext cx="2844593" cy="496066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66A1D4A-DADB-4F5C-BFE0-BC84900978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8837" y="21236894"/>
            <a:ext cx="2844592" cy="4960666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56B5EBD-4084-46CF-B8D4-40B2D1D87981}"/>
              </a:ext>
            </a:extLst>
          </p:cNvPr>
          <p:cNvSpPr/>
          <p:nvPr/>
        </p:nvSpPr>
        <p:spPr>
          <a:xfrm>
            <a:off x="3949009" y="20805391"/>
            <a:ext cx="8895605" cy="31166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D0A46B-E962-4BA2-BA8F-CB3CB00AA818}"/>
              </a:ext>
            </a:extLst>
          </p:cNvPr>
          <p:cNvSpPr/>
          <p:nvPr/>
        </p:nvSpPr>
        <p:spPr>
          <a:xfrm>
            <a:off x="0" y="-1"/>
            <a:ext cx="3467100" cy="302752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2AE3362-C1E3-46A7-BAD1-50CF829FA8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1005326"/>
            <a:ext cx="3378298" cy="341149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5B9C506-17F1-4D44-9066-4F353733F3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55832" y="21222316"/>
            <a:ext cx="3673944" cy="25055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4102362-98FA-4B0D-B082-4B74F82C09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12830" y="21247456"/>
            <a:ext cx="3673944" cy="248044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22284A6-E32E-4A5C-AD45-FC517449828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12831" y="23813345"/>
            <a:ext cx="7581578" cy="238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04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323</Words>
  <Application>Microsoft Office PowerPoint</Application>
  <PresentationFormat>Произвольный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Corbel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пп пр</dc:creator>
  <cp:lastModifiedBy>пп пр</cp:lastModifiedBy>
  <cp:revision>8</cp:revision>
  <dcterms:created xsi:type="dcterms:W3CDTF">2022-10-25T15:58:43Z</dcterms:created>
  <dcterms:modified xsi:type="dcterms:W3CDTF">2022-10-25T22:54:46Z</dcterms:modified>
</cp:coreProperties>
</file>